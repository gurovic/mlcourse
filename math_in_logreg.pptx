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8" r:id="rId14"/>
    <p:sldId id="267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E067-A15F-D073-92D1-7097E80B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1AE23-6FAF-F994-CC2D-4AA46FBA8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91673-0501-48B9-BD79-52D70F62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60B87-1358-2EEF-97ED-B7D1B0253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B23FD-94E8-6D05-6D91-EFF107D0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46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F8E4-4782-5CDD-582F-B56C4A2A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5E3B-77FD-8BF9-CB04-3CD66F21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FD47-354F-3492-3098-6D46FE13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11192-449D-88E1-FB55-AF43F7F6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0FD2-F893-83E9-39F8-529EDE1B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38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0CD6-7F0B-EACB-2A0D-D586C735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C5968-0F4C-2F26-C7E5-777E235FC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F48E-5891-A9A1-15B1-82B86757A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8DD44-1425-38B0-5D6A-8BFD2BAE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ECD0A-EE65-13A9-D9DD-03FE267F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5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D583-066E-5E78-723E-C291A414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B1931-19AE-6083-84A3-9861A693E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B9163-A356-0B9F-25B2-28857E173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2EB51-BD90-6FAF-C922-54495962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8DEA8-B426-D357-8800-FA991ED0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C1BA8-F16E-8574-6765-6BC1771C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1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04422-6372-C162-0852-AD8828CB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743F8-28EE-C95E-0AE7-B069D5E42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0F809-5BE3-2257-F33B-311C42B7A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A4698-0121-3E49-4C27-D96989A74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BEFDB-055A-AE13-EE70-4E1B6FCF7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62C78-E659-7853-497C-31E3DB0B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7B7DC-693D-1CFE-202B-D117D0B9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4F521-AD9F-6814-9557-1A397762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01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1C6C-8A0A-B795-68C8-CA04348A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B2E79-61D6-983F-BC2F-36AD4147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3E2DC-5090-6FF6-8F07-4DF7A6AF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E612F-39EC-28B4-5189-528F7770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73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330B1-6DE8-2D7A-37DA-429AD078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08916A-9CFB-3CAB-B03F-FD146A5B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804C7-A9CA-C4D9-A187-2BA55982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54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E67D-569C-CBC4-F779-50A0178D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E1989-AE8C-6673-F37C-D94F7ED45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5909D-665F-AA19-C0B6-2B5D69AB9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7FF3D-DA8D-6FA4-1445-ECE1D381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937E3-8342-00BD-9FDC-81D08E02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E5AEE-40AC-F426-1134-B91175D2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8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21FE-DA66-4805-B585-15932B833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5BC0FF-0A85-C3E7-CDC7-7E1B36700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0FC97-3771-C087-4600-39F1034E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58E76-0376-623E-867C-3C04F3E6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38E55-43CA-C174-4643-3C26DFF9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032E4-19F0-2786-5DE2-2429DC9B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41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63B8-CAFA-48BC-E35C-A560AC6F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9FDB0-9FCE-394F-E351-CCB6EA66C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52464-8CAC-F570-32A6-A977FC65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922F0-ABA1-34E2-F5CE-C5272990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61B35-82C4-AF08-8A71-59CE2F36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95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EC8EF-8DCB-539F-2DF9-7459EF1CE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21EE5-5D53-F8DB-4F5C-86C04B6B7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582A-25A8-C9F2-1AC8-D496E0A6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ADE4-7320-24E4-CB11-2D72B3C2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00652-4810-FA1E-F591-1EA03E67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80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4673C-719B-E381-F680-AAB58171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2DE06-11C8-DE22-FFD0-C7D346054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E624-3976-DEFA-96DF-EE76D3546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8B8C4-5CB5-450C-9034-543053E5310A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62729-3F2F-268C-DDBA-9726E780F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19DB5-271E-D022-488E-FD27D92E9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8D0C0-9E86-4EF7-A7CF-88547797A3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60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A9FA-3F99-08A8-5A3C-48E24D78A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Математика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986F-1AE9-9E79-1D9F-F7344ED7E0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через логистическую регрессию</a:t>
            </a:r>
          </a:p>
        </p:txBody>
      </p:sp>
    </p:spTree>
    <p:extLst>
      <p:ext uri="{BB962C8B-B14F-4D97-AF65-F5344CB8AC3E}">
        <p14:creationId xmlns:p14="http://schemas.microsoft.com/office/powerpoint/2010/main" val="149635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A3F2-ABF1-42BF-F421-3F831821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Теория вероятностей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1FBE85B-49CA-326B-7C8C-401BE40A0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263113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"Природа сама подсказывает формулу"</a:t>
                      </a:r>
                    </a:p>
                    <a:p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Распределение Бернулли — самая простая модель "да/нет"</a:t>
                      </a:r>
                    </a:p>
                    <a:p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Экспоненциальное семейство — "стандартные детали" в наборе природы</a:t>
                      </a:r>
                    </a:p>
                    <a:p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Достаточная статистика — весь смысл данных в одной формуле: Xᵀy</a:t>
                      </a:r>
                    </a:p>
                    <a:p>
                      <a:endParaRPr lang="ru-RU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Как описать результаты подбрасывания монеты минимальным способом?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Экспоненциальное семейство распределений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P(y|η) = h(y) exp{ηy - A(η)}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где η = wᵀx — канонический параметр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Свойства: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Минимальная достаточная статистика: Xᵀy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Информация Фишера: I(w) = XᵀD(w)X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Асимптотика: √n(ŵ - w*) ~ N(0, I⁻¹)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91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490A-957E-91B3-2D78-CF6CECBB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C363-78B9-0E91-500D-722C062B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Теория информации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E11499D-5DBD-0EB7-C101-D8EA0F67F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162505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"Измеряем удивление"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Кросс-энтропия — насколько мы удивлены, увидев истинный ответ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KL-дивергенция — "расстояние" между нашим предсказанием и истиной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Чем лучше предсказываем → тем меньше удивление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Игра в "угадай число" — цена вопроса зависит от уверенности.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КРОСС-ЭНТРОПИЯ И РАССТОЯНИЯ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= H(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p,q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-∑[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(1-p_i)log(1-q_i)]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= KL(p||q) + H(p)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KL-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дивергенция: мера различия распределений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Взаимная информация: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I(X;Y) = H(Y) - H(Y|X)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MDL: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минимальная длина описания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12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23A7-387E-AE71-5F84-BA081462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90F8-CCCF-3240-C86D-FD9936C2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Выпуклая оптимизация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56D8CB8-9CEB-6A36-E841-3591CA10F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457272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"Гарантированный спуск в самую низкую точку"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Чашка вместо горного хребта — только один минимум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Градиент — указатель "вниз по склону"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 Ньютона — использование "кривизны" для быстрого спуска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Шар, катящийся в чашу, всегда найдет дно.</a:t>
                      </a:r>
                    </a:p>
                    <a:p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ВЫПУКЛАЯ СТРУКТУРА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J(w) = -log L(w) —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выпуклая функция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∇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J(w) = Xᵀ(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 -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∇²J(w) = XᵀD X ⪰ 0 (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положительно определена)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Градиентный спуск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Метод Ньютона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IRLS: 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XᵀD_k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X)w_{k+1} =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XᵀD_k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z_k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60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BEED-DDD5-0BE3-DE0C-4C6861A3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DF1F-255E-320E-DF84-A6A2E7CC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Линейная алгебра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808F25-C1AD-C70F-EDBC-51CFA13E3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354661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"Магия разложения на простые движения"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SVD — как разложить сложное преобразование на: растяжение + поворот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Собственные значения — "сила" в разных направлениях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Псевдообратная — решение, когда уравнений больше чем неизвестных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Разбор сложного танца на базовые шаги.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МАТРИЧНЫЕ РАЗЛОЖЕНИЯ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UΣVᵀ (SVD)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I(w) = XᵀD X = VΣᵀUᵀD UΣVᵀ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Собственные значения → обусловленность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Сингулярные векторы → главные направления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Псевдообратная: X⁺ = VΣ⁺Uᵀ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59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FD1B-8C0A-1397-7012-2A085D246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765F-2481-6779-FC8C-B79D4C2D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5. Теория приближений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5625589-A8F1-23E1-859F-863F3EDB4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499640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"Локально все выглядит просто"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Любую гладкую кривую можно заменить параболой вблизи точки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Сигмоиду около 0 можно заменить прямой: 0.5 + 0.15x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Сложные интегралы ≈ простые гауссовы "колокольчики"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Карта города в масштабе квартала проще, чем всей страны.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ЛОКАЛЬНЫЕ АППРОКСИМАЦИИ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Тейлора: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ℓ(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w) ≈ ℓ(w₀) + gᵀ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 + ½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wᵀH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Приближения: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 ≈ 0.5 + 0.15z (|z| &lt; 1.5)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Лапласовское: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w|D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≈ N(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w_MAP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H⁻¹)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Log-Sum-Exp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трюк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63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16B7-1D6C-1B01-7EC8-C28A95D2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0834-ED78-3383-269A-AA83220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6. Теория регулярности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7ABD42-A81A-8E5C-57F9-85C5C31DF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1754185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"Правила игры, чтобы математика работала"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Идентифицируемость — нельзя угадать человека по "имя и фамилия: ???"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Компактность — ищем ключи в ограниченной комнате, а не во всей Вселенной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Условия сходимости — гарантия, что итерации приведут к ответу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Правила шахмат обеспечивают, что партия может завершиться.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УСЛОВИЯ СХОДИМОСТИ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Требования для MLE: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Идентифицируемость: X — полного ранга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Регулярность Крамера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Компактность параметрического пространства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Условия SGD: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Липшицевость градиента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Выпуклость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Ограниченный шум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08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77FA9-79CA-5C37-DA79-AC44D10A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40B3-5635-E66F-F869-CF44B1B2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7. Математический анализ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CAAB8B7-1EAB-B183-CDBE-760C4ED00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846832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"Сигмоида устроена гениально просто"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Производная выражается через саму функцию: σ' = σ(1-σ)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Симметрия: σ(-x) = 1-σ(x) — зеркальное отражение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Интеграл — логарифм от экспоненты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Автомобиль, где скорость зависит только от текущего положения.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СВОЙСТВА СИГМОИДЫ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 = 1/(1+e^{-z})</a:t>
                      </a:r>
                    </a:p>
                    <a:p>
                      <a:pPr latinLnBrk="1"/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σ'(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 =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z)[1-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z)]</a:t>
                      </a:r>
                    </a:p>
                    <a:p>
                      <a:pPr latinLnBrk="1"/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σ''(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 =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σ(1-σ)(1-2σ)</a:t>
                      </a:r>
                    </a:p>
                    <a:p>
                      <a:pPr latinLnBrk="1"/>
                      <a:endParaRPr lang="el-G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Связи: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 = ½[1 + tanh(z/2)]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∫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dz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log(1+e^z)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σ(-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 = 1 -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93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1D0B-C23E-209B-3002-326E9115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6B3F-2713-17E2-98F1-41B4F4D8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8. Теория принятия решений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DF1DA5D-4FD1-79D8-56F4-00E0B5864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777940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"Оптимальный компромисс между ошибками"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ROC-кривая — trade-off между ложными тревогами и пропусками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 — "сила" классификатора одним числом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Порог 0.5 — не догма, можно менять в зависимости от цены ошибки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Настройка металлодетектора в аэропорту — баланс безопасности и неудобств.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ОПТИМАЛЬНАЯ КЛАССИФИКАЦИЯ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Байесовский классификатор: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ŷ = 1 если P(y=1|x) &gt; 0.5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ROC-анализ: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AUC = ∫ROC(t)dt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Оптимальная точка: max(TPR - FPR)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Критерий Неймана-Пирсона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59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AD70-DFEF-F9B9-7E87-49CFA55A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A6C7-83DF-2719-0F95-DE031F56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9. Матричное исчисление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07B309B-781A-C7FC-97AA-39E5B374B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556482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"Цепное правило для матриц"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Производная сложной функции работает и в многомерном случае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Градиент — вектор направления наискорейшего роста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Гессиан — матрица "кривизны" поверхности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Если вы знаете, как менять один рычаг, то сможете управлять всеми сразу.</a:t>
                      </a:r>
                    </a:p>
                    <a:p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ДИФФЕРЕНЦИРОВАНИЕ МАТРИЦ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wᵀx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)/∂w = x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Xw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)/∂w = D Xᵀ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∂J/∂w = Xᵀ(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 -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∂²J/∂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w∂w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ᵀ = XᵀD X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где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 =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(1-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72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1582-88C4-D918-C26F-7E035DD11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FB91-FEEB-64DF-3A7A-06476262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10. Теория устойчивости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229875C-DE61-0802-0C0E-C500868969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129361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"Защита от обмана"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Выбросы — "лжесвидетели" в данных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Регуляризация — штраф за слишком сложные объяснения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L1 vs L2 — разные стратегии упрощения модели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Упрощение языка объяснения, чтобы не запутаться в деталях.</a:t>
                      </a:r>
                    </a:p>
                    <a:p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РОБАСТНОСТЬ И ВЫБРОСЫ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М-оценки: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argmin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∑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wᵀx_i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 влияния: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(I⁻¹)x(y-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σ)</a:t>
                      </a:r>
                    </a:p>
                    <a:p>
                      <a:pPr latinLnBrk="1"/>
                      <a:endParaRPr lang="el-GR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Регуляризация: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Ridge: ||w||²₂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Lasso: ||w||₁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Elastic Net: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α||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w||₁ + (1-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α)||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w||²₂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975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098-FC41-6944-1CDC-5CE36801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402E0-217E-6B4B-DE41-37173A98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11. Теория больших отклонений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E7E22E-B7EE-66B2-B251-9E7AC5CE4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061126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"Вероятность редких событий падает экспоненциально"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Закон больших чисел — стабильность при многократном повторении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Экспоненциальная скорость — почему мы быстро находим правду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Хвосты распределений — что происходит на границах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Шанс ошибиться 100 раз подряд ничтожно мал.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СКОРОСТИ СХОДИМОСТИ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Теорема Санова: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P(||ŵ - w*|| &gt; ε) ≤ exp(-nI(ε))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где I(ε) — скорость больших отклонений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Экспоненциальная скорость: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Для MLE: O(e^{-cn})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Для SGD: O(1/√n) в общем случае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150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DBA7-2873-8E48-1F88-6E655071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323-E13E-9A1A-0DE2-92A8E8F2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 Функциональный анализ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B5B428E-4F5E-9A1E-936D-F8A0E1B17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954817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"Бесконечномерное обобщение"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 точек → к функциям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Ядра — мера сходства вместо скалярного произведения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Теорема Мерсера — разложение по "гармоникам"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От сравнения цветов → к сравнению всей палитры картин.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БЕСКОНЕЧНОМЕРНЫЕ ОБОБЩЕНИЯ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RKHS: H = {f: f(x) = ∑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x_i,x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)}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Ядерная логистическая регрессия: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P(y=1|x) =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σ(∑α_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x_i,x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Mercer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теорема: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x,x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 = ∑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λ_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φ_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φ_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(x')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804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8FAA-BCAD-E965-77DF-94B9380D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7A11-855D-E253-93A9-E94FCF95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13. Комбинаторная теория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BEFDCA9-8949-3C08-0102-FA6FA4A00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20749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"Сложность vs возможности"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VC-размерность — сколько разных ситуаций может описать модель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Теорема о разделимости — когда ответы становятся слишком уверенными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Переобучение — запоминание вместо понимания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Ученик, вызубривший билеты, но не понимающий предмет.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РАЗДЕЛИМОСТЬ И СЛОЖНОСТЬ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Теорема: Если данные линейно разделимы,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 MLE → ∞ (веса расходятся)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VC-размерность: d_VC = p + 1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Граница обобщения: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R(h) ≤ R_emp(h) + O(√(d_VC/n))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463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56A-34AE-02E6-06C3-83A5F8AA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1A22-11FC-5C70-0207-957F9D30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14. Численные методы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A4191C-7647-7AD5-0AFE-88ED0F992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27605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"Как считать, чтобы компьютер не сломался"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Стабильность — избегаем огромных чисел в вычислениях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Log-Sum-Exp трюк — математическая магия для компьютера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Квазиньютоновские методы — запоминание "ландшафта"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Инженерные приемы для строительства математических мостов.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СТАБИЛЬНЫЕ ВЫЧИСЛЕНИЯ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Устойчивая сигмоида: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z ≥ 0: return 1/(1+exp(-z))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else:     return exp(z)/(1+exp(z))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Методы оптимизации: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BFGS: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квазиньютоновский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L-BFGS: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больших данных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Сопряженные градиенты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595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55BD-AC5B-8FBB-ED62-6AFE335B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F705-F110-3CBB-9967-1908D8ED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15. Стохастические процессы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196623E-5217-92D0-0B65-C60BAD74B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739031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"Случайные шаги к цели"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SGD — обучение по одному примеру за раз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Мартингал — игра с нулевым матожиданием выигрыша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Сходимость почти наверное — гарантия при бесконечном времени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Пьяный человек в конце концов найдет выход из парка.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ДИНАМИКА ОБУЧЕНИЯ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SGD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w_{t+1} =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l-G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η_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t∇J_i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где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∼ Uniform{1,...,n}</a:t>
                      </a:r>
                    </a:p>
                    <a:p>
                      <a:pPr latinLnBrk="1"/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Сходимость: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Почти наверное: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w*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среднем: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E[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→ w*</a:t>
                      </a:r>
                    </a:p>
                    <a:p>
                      <a:pPr latinLnBrk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Квадратичная: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E[||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w_t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w*||²] → 0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00D2-3525-03B9-23E0-8AB32A69D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B917-9714-FC1E-444F-A0F05BF8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16. Геометрическая теория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356415B-FB6E-066E-7A35-8D4B3A4A0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737587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"Геометрия вероятностей"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Риманова метрика — как измерять расстояния между распределениями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Метрика Фишера — естественная мера "похожести" моделей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Геодезические — кратчайшие пути в пространстве решений</a:t>
                      </a:r>
                    </a:p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Карта мира, где расстояние измеряется не километрами, а сходством культур.</a:t>
                      </a:r>
                    </a:p>
                    <a:p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ИНФОРМАЦИОННАЯ ГЕОМЕТРИЯ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Пространство моделей — риманово многообразие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Метрика Фишера: g_{ij}(w) = E[∂²log p/∂w_i∂w_j]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Геодезические: кратчайшие пути между моделями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Дивергенция: KL(p||q) ≈ ½ΔwᵀG(w)Δw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820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8E5EA-8152-A8A3-8DD6-21CB2CCE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181D-42D2-4B2B-8E11-0B7223B01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17. Теория кодирования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00AE4F7-4CA6-DCD5-4DD1-C4C830A3C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393173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56646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98542254"/>
                    </a:ext>
                  </a:extLst>
                </a:gridCol>
              </a:tblGrid>
              <a:tr h="466725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Идея: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"Оптимальное сжатие информации"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MDL — лучшая теория та, которая короче всего описывает данные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Логистическая регрессия как код — компактное описание закономерностей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Байесовский вывод — обновление знаний по мере поступления данных</a:t>
                      </a:r>
                    </a:p>
                    <a:p>
                      <a:r>
                        <a:rPr lang="ru-RU" sz="18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Аналогия:</a:t>
                      </a:r>
                      <a:r>
                        <a:rPr lang="ru-RU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Искусство рассказывать сложное простыми словами.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ИНФОРМАЦИОННОЕ КОДИРОВАНИЕ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MDL принцип: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Выбираем модель, минимизирующую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L(модель) + L(данные|модель)</a:t>
                      </a:r>
                    </a:p>
                    <a:p>
                      <a:pPr latinLnBrk="1"/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Логистическая регрессия как декодер:</a:t>
                      </a:r>
                    </a:p>
                    <a:p>
                      <a:pPr latinLnBrk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P(данные|код) = ∏σ(wᵀx_i)^{y_i}(1-σ)^{1-y_i}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58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42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1890</Words>
  <Application>Microsoft Office PowerPoint</Application>
  <PresentationFormat>Widescreen</PresentationFormat>
  <Paragraphs>263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Математика</vt:lpstr>
      <vt:lpstr>1. Теория вероятностей</vt:lpstr>
      <vt:lpstr>2. Теория информации</vt:lpstr>
      <vt:lpstr>3. Выпуклая оптимизация</vt:lpstr>
      <vt:lpstr>4. Линейная алгебра</vt:lpstr>
      <vt:lpstr>5. Теория приближений</vt:lpstr>
      <vt:lpstr>6. Теория регулярности</vt:lpstr>
      <vt:lpstr>7. Математический анализ</vt:lpstr>
      <vt:lpstr>8. Теория принятия решений</vt:lpstr>
      <vt:lpstr>9. Матричное исчисление</vt:lpstr>
      <vt:lpstr>10. Теория устойчивости</vt:lpstr>
      <vt:lpstr>11. Теория больших отклонений</vt:lpstr>
      <vt:lpstr>12. Функциональный анализ</vt:lpstr>
      <vt:lpstr>13. Комбинаторная теория</vt:lpstr>
      <vt:lpstr>14. Численные методы</vt:lpstr>
      <vt:lpstr>15. Стохастические процессы</vt:lpstr>
      <vt:lpstr>16. Геометрическая теория</vt:lpstr>
      <vt:lpstr>17. Теория кодирования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Martina Joe</dc:creator>
  <cp:lastModifiedBy>Martina Joe</cp:lastModifiedBy>
  <cp:revision>1</cp:revision>
  <dcterms:created xsi:type="dcterms:W3CDTF">2026-01-11T22:55:21Z</dcterms:created>
  <dcterms:modified xsi:type="dcterms:W3CDTF">2026-01-11T23:09:00Z</dcterms:modified>
</cp:coreProperties>
</file>